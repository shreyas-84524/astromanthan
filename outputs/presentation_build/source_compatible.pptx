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8288000" cy="10287000"/>
  <p:notesSz cx="6858000" cy="9144000"/>
  <p:embeddedFontLst>
    <p:embeddedFont>
      <p:font typeface="Calibri" panose="020F0502020204030204" pitchFamily="34" charset="0"/>
      <p:regular r:id="rId7"/>
      <p:bold r:id="rId8"/>
      <p:italic r:id="rId9"/>
      <p:boldItalic r:id="rId10"/>
    </p:embeddedFont>
    <p:embeddedFont>
      <p:font typeface="League Spartan" panose="020B0604020202020204" charset="0"/>
      <p:regular r:id="rId11"/>
    </p:embeddedFont>
    <p:embeddedFont>
      <p:font typeface="Times New Roman MT" panose="020B0604020202020204" charset="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7" d="100"/>
          <a:sy n="47" d="100"/>
        </p:scale>
        <p:origin x="696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font" Target="fonts/font1.fntdata"/><Relationship Id="rId8" Type="http://schemas.openxmlformats.org/officeDocument/2006/relationships/font" Target="fonts/font2.fntdata"/><Relationship Id="rId9" Type="http://schemas.openxmlformats.org/officeDocument/2006/relationships/font" Target="fonts/font3.fntdata"/><Relationship Id="rId10" Type="http://schemas.openxmlformats.org/officeDocument/2006/relationships/font" Target="fonts/font4.fntdata"/><Relationship Id="rId11" Type="http://schemas.openxmlformats.org/officeDocument/2006/relationships/font" Target="fonts/font5.fntdata"/><Relationship Id="rId12" Type="http://schemas.openxmlformats.org/officeDocument/2006/relationships/font" Target="fonts/font6.fntdata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notesMaster" Target="notesMasters/notesMaster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800">
                <a:solidFill>
                  <a:srgbClr val="543D74"/>
                </a:solidFill>
              </a:rPr>
              <a:t>Class counts (measured)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Dataset_29</c:v>
                </c:pt>
              </c:strCache>
            </c:strRef>
          </c:tx>
          <c:spPr>
            <a:solidFill>
              <a:srgbClr val="543D74"/>
            </a:solidFill>
          </c:spPr>
          <c:cat>
            <c:strRef>
              <c:f>Sheet1!$A$2:$A$4</c:f>
              <c:strCache>
                <c:ptCount val="3"/>
                <c:pt idx="0">
                  <c:v>GALAXY</c:v>
                </c:pt>
                <c:pt idx="1">
                  <c:v>STAR</c:v>
                </c:pt>
                <c:pt idx="2">
                  <c:v>QSO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52361</c:v>
                </c:pt>
                <c:pt idx="1">
                  <c:v>37250</c:v>
                </c:pt>
                <c:pt idx="2">
                  <c:v>10439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Dataset_24</c:v>
                </c:pt>
              </c:strCache>
            </c:strRef>
          </c:tx>
          <c:spPr>
            <a:solidFill>
              <a:srgbClr val="E8A33D"/>
            </a:solidFill>
          </c:spPr>
          <c:cat>
            <c:strRef>
              <c:f>Sheet1!$A$2:$A$4</c:f>
              <c:strCache>
                <c:ptCount val="3"/>
                <c:pt idx="0">
                  <c:v>GALAXY</c:v>
                </c:pt>
                <c:pt idx="1">
                  <c:v>STAR</c:v>
                </c:pt>
                <c:pt idx="2">
                  <c:v>QSO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59445</c:v>
                </c:pt>
                <c:pt idx="1">
                  <c:v>21593</c:v>
                </c:pt>
                <c:pt idx="2">
                  <c:v>18961</c:v>
                </c:pt>
              </c:numCache>
            </c:numRef>
          </c:val>
        </c:ser>
        <c:axId val="2226939960"/>
        <c:axId val="2180972856"/>
      </c:barChart>
      <c:catAx>
        <c:axId val="2226939960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400"/>
            </a:pPr>
          </a:p>
        </c:txPr>
        <c:crossAx val="2180972856"/>
        <c:crosses val="autoZero"/>
        <c:auto val="1"/>
        <c:lblAlgn val="ctr"/>
        <c:lblOffset val="100"/>
        <c:noMultiLvlLbl val="0"/>
      </c:catAx>
      <c:valAx>
        <c:axId val="2180972856"/>
        <c:scaling/>
        <c:delete val="0"/>
        <c:axPos val="l"/>
        <c:majorGridlines>
          <c:spPr>
            <a:ln>
              <a:solidFill>
                <a:srgbClr val="D9D3E6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2226939960"/>
        <c:crosses val="autoZero"/>
      </c:valAx>
    </c:plotArea>
    <c:legend>
      <c:legendPos val="b"/>
      <c:overlay val="0"/>
      <c:txPr>
        <a:bodyPr/>
        <a:lstStyle/>
        <a:p>
          <a:pPr>
            <a:defRPr sz="14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Now ($B)</c:v>
                </c:pt>
              </c:strCache>
            </c:strRef>
          </c:tx>
          <c:spPr>
            <a:solidFill>
              <a:srgbClr val="E8A33D"/>
            </a:solidFill>
          </c:spPr>
          <c:cat>
            <c:strRef>
              <c:f>Sheet1!$A$2:$A$5</c:f>
              <c:strCache>
                <c:ptCount val="4"/>
                <c:pt idx="0">
                  <c:v>Satellite AI analytics (to 2033, 23.8%/yr)</c:v>
                </c:pt>
                <c:pt idx="1">
                  <c:v>Satellite data analytics (to 2034, 18.5%/yr)</c:v>
                </c:pt>
                <c:pt idx="2">
                  <c:v>AI satellite data analytics (to 2034, 11.8%/yr)</c:v>
                </c:pt>
                <c:pt idx="3">
                  <c:v>Space data analytics (2025, to 2033, 20.9%/yr)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3.9</c:v>
                </c:pt>
                <c:pt idx="1">
                  <c:v>6.8</c:v>
                </c:pt>
                <c:pt idx="2">
                  <c:v>4.31</c:v>
                </c:pt>
                <c:pt idx="3">
                  <c:v>2.64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Forecast ($B)</c:v>
                </c:pt>
              </c:strCache>
            </c:strRef>
          </c:tx>
          <c:spPr>
            <a:solidFill>
              <a:srgbClr val="543D74"/>
            </a:solidFill>
          </c:spPr>
          <c:cat>
            <c:strRef>
              <c:f>Sheet1!$A$2:$A$5</c:f>
              <c:strCache>
                <c:ptCount val="4"/>
                <c:pt idx="0">
                  <c:v>Satellite AI analytics (to 2033, 23.8%/yr)</c:v>
                </c:pt>
                <c:pt idx="1">
                  <c:v>Satellite data analytics (to 2034, 18.5%/yr)</c:v>
                </c:pt>
                <c:pt idx="2">
                  <c:v>AI satellite data analytics (to 2034, 11.8%/yr)</c:v>
                </c:pt>
                <c:pt idx="3">
                  <c:v>Space data analytics (2025, to 2033, 20.9%/yr)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17.4</c:v>
                </c:pt>
                <c:pt idx="1">
                  <c:v>26.5</c:v>
                </c:pt>
                <c:pt idx="2">
                  <c:v>9.76</c:v>
                </c:pt>
                <c:pt idx="3">
                  <c:v>12.03</c:v>
                </c:pt>
              </c:numCache>
            </c:numRef>
          </c:val>
        </c:ser>
        <c:dLbls>
          <c:numFmt formatCode="$0.0&quot;B&quot;" sourceLinked="0"/>
          <c:txPr>
            <a:bodyPr/>
            <a:lstStyle/>
            <a:p>
              <a:pPr>
                <a:defRPr sz="13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2226939960"/>
        <c:axId val="2180972856"/>
      </c:barChart>
      <c:catAx>
        <c:axId val="2226939960"/>
        <c:scaling>
          <c:orientation val="maxMin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300"/>
            </a:pPr>
          </a:p>
        </c:txPr>
        <c:crossAx val="2180972856"/>
        <c:crosses val="autoZero"/>
        <c:auto val="1"/>
        <c:lblAlgn val="ctr"/>
        <c:lblOffset val="100"/>
        <c:noMultiLvlLbl val="0"/>
      </c:catAx>
      <c:valAx>
        <c:axId val="2180972856"/>
        <c:scaling/>
        <c:delete/>
        <c:axPos val="b"/>
        <c:majorTickMark val="out"/>
        <c:minorTickMark val="none"/>
        <c:tickLblPos val="nextTo"/>
        <c:crossAx val="2226939960"/>
        <c:crosses val="autoZero"/>
      </c:valAx>
    </c:plotArea>
    <c:legend>
      <c:legendPos val="b"/>
      <c:overlay val="0"/>
      <c:txPr>
        <a:bodyPr/>
        <a:lstStyle/>
        <a:p>
          <a:pPr>
            <a:defRPr sz="14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SAY: This is our reading of the problem statement. Stars are point sources; galaxies have extent, but faint galaxies blur into points. The statement warns about unnecessary attributes, confusing measurements, unusual observations, bias and leakage, so we treat this as a data-quality and honesty problem. Our audit found junk text and sentinels in Dataset_29 and a label-revealing column (redshift) in both files. Dataset_24 was NOT used as training data; it was a secondary transfer check, and the drop from 0.968 to 0.478 macro-F1 shows we do not claim cross-survey generalisation.</a:t>
            </a:r>
          </a:p>
          <a:p>
            <a:r>
              <a:t>KEY CLAIM: the raw data cannot be modelled as-is.</a:t>
            </a:r>
          </a:p>
          <a:p>
            <a:r>
              <a:t>EVIDENCE: data audit numbers (measured) and the transfer check.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SAY: Three parts: clean and audit the data, keep stars and galaxies only with repeated objects collapsed, then train a Histogram Gradient Boosting model on 60 inputs validated with five-fold CV on 71,401 development rows and scored once on 17,850 held-out objects. Redshift is excluded because it nearly gives the label for stars.</a:t>
            </a:r>
          </a:p>
          <a:p>
            <a:r>
              <a:t>CAUTION: the radius ratio is Petrosian radius / half-light radius, not the conventional R90/R50 concentration, and the band magnitudes were not verified as model/cmodel magnitudes. Say so if asked.</a:t>
            </a:r>
          </a:p>
          <a:p>
            <a:r>
              <a:t>KEY CLAIM: a leakage-free pipeline gives a score we can defend.</a:t>
            </a:r>
          </a:p>
          <a:p>
            <a:r>
              <a:t>EVIDENCE: held-out accuracy 99.48%, macro-F1 0.9946 (slide 4).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SAY: Walk the seven steps. Final model HistGB_deeper: five-fold CV macro-F1 0.9946 vs 0.9918 for logistic regression (a 0.29-point gain), then 99.48% accuracy and 0.9946 macro-F1 on 17,850 held-out objects: 10,383 galaxies and 7,374 stars correct, 60 galaxies called stars, 33 stars called galaxies (93 errors). Only the chosen model touched the test set.</a:t>
            </a:r>
          </a:p>
          <a:p>
            <a:r>
              <a:t>PIPELINE: 1 Load Dataset_29. 2 Inspect. 3 Clean: bad text and out-of-bound values to NaN, drop IDs/coordinates/bookkeeping/spectral fields, drop QSO and redshift, collapse repeated objects (100,050 to 89,251). 4 Build 30 derived features (60 inputs). 5 Split 80/20 (71,401 / 17,850). 6 Median-fill inside each fold, five-fold CV, pick HistGB_deeper. 7 Evaluate on test, permutation importance for interpretation. Output: probability per object; near 0.5 goes to follow-up.</a:t>
            </a:r>
          </a:p>
          <a:p>
            <a:r>
              <a:t>HONEST LIMIT: a separate 5-band colour model scored macro-F1 0.968 on Dataset_29 holdout but 0.478 on Dataset_24, so we do not claim cross-survey generalisation.</a:t>
            </a:r>
          </a:p>
          <a:p>
            <a:r>
              <a:t>KEY CLAIM: the model generalises to unseen Dataset_29 objects.</a:t>
            </a:r>
          </a:p>
          <a:p>
            <a:r>
              <a:t>EVIDENCE: CV table, held-out metrics, confusion matrix (measured).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SAY: Real-world application. Rubin's LSST expects about 20 billion galaxies and 17 billion stars, far beyond manual labelling. The table shows astronomy-related market segments from analyst reports and government figures; estimates differ by report and are not independently verified, so quote them as ranges. Our classifier is a small piece of that data-analysis pipeline. Future scope: calibration and uncertainty, QSO as a third class, other surveys, rare-object detection.</a:t>
            </a:r>
          </a:p>
          <a:p>
            <a:r>
              <a:t>KEY CLAIM: automated star-galaxy classification is needed at survey scale.</a:t>
            </a:r>
          </a:p>
          <a:p>
            <a:r>
              <a:t>EVIDENCE: Rubin project figures; market-research estimates (caveat).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chart" Target="../charts/chart1.xml"/><Relationship Id="rId4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.xml"/><Relationship Id="rId4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334000" y="6132598"/>
            <a:ext cx="5486400" cy="32060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023"/>
              </a:lnSpc>
              <a:spcBef>
                <a:spcPct val="0"/>
              </a:spcBef>
            </a:pPr>
            <a:r>
              <a:rPr lang="en-US" sz="3588" dirty="0">
                <a:solidFill>
                  <a:srgbClr val="543D7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   Team </a:t>
            </a:r>
            <a:r>
              <a:rPr lang="en-US" sz="3588" dirty="0" smtClean="0">
                <a:solidFill>
                  <a:srgbClr val="543D7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Name : </a:t>
            </a:r>
            <a:r>
              <a:rPr lang="en-US" sz="3588" dirty="0" err="1" smtClean="0">
                <a:solidFill>
                  <a:srgbClr val="543D7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Krittika</a:t>
            </a:r>
            <a:endParaRPr lang="en-US" sz="3588" dirty="0">
              <a:solidFill>
                <a:srgbClr val="543D74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  <a:p>
            <a:pPr marL="774766" lvl="1" indent="-387383">
              <a:lnSpc>
                <a:spcPts val="5023"/>
              </a:lnSpc>
              <a:spcBef>
                <a:spcPct val="0"/>
              </a:spcBef>
              <a:buAutoNum type="arabicPeriod"/>
            </a:pPr>
            <a:r>
              <a:rPr lang="en-US" sz="3588" dirty="0" err="1">
                <a:solidFill>
                  <a:srgbClr val="543D7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Shreyas</a:t>
            </a:r>
            <a:r>
              <a:rPr lang="en-US" sz="3588" dirty="0">
                <a:solidFill>
                  <a:srgbClr val="543D7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  <a:r>
              <a:rPr lang="en-US" sz="3588" dirty="0" err="1" smtClean="0">
                <a:solidFill>
                  <a:srgbClr val="543D7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Shigwan</a:t>
            </a:r>
            <a:endParaRPr lang="en-US" sz="3588" dirty="0" smtClean="0">
              <a:solidFill>
                <a:srgbClr val="543D74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  <a:p>
            <a:pPr marL="774766" lvl="1" indent="-387383">
              <a:lnSpc>
                <a:spcPts val="5023"/>
              </a:lnSpc>
              <a:spcBef>
                <a:spcPct val="0"/>
              </a:spcBef>
              <a:buAutoNum type="arabicPeriod"/>
            </a:pPr>
            <a:r>
              <a:rPr lang="en-US" sz="3588" dirty="0" err="1">
                <a:solidFill>
                  <a:srgbClr val="543D7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Siddhant</a:t>
            </a:r>
            <a:r>
              <a:rPr lang="en-US" sz="3588" dirty="0">
                <a:solidFill>
                  <a:srgbClr val="543D7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  <a:r>
              <a:rPr lang="en-US" sz="3588" dirty="0" err="1" smtClean="0">
                <a:solidFill>
                  <a:srgbClr val="543D7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Surve</a:t>
            </a:r>
            <a:endParaRPr lang="en-US" sz="3588" dirty="0" smtClean="0">
              <a:solidFill>
                <a:srgbClr val="543D74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  <a:p>
            <a:pPr marL="774766" lvl="1" indent="-387383">
              <a:lnSpc>
                <a:spcPts val="5023"/>
              </a:lnSpc>
              <a:spcBef>
                <a:spcPct val="0"/>
              </a:spcBef>
              <a:buAutoNum type="arabicPeriod"/>
            </a:pPr>
            <a:r>
              <a:rPr lang="en-US" sz="3588" dirty="0">
                <a:solidFill>
                  <a:srgbClr val="543D7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Mahesh </a:t>
            </a:r>
            <a:r>
              <a:rPr lang="en-US" sz="3588" dirty="0" err="1" smtClean="0">
                <a:solidFill>
                  <a:srgbClr val="543D7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Dubey</a:t>
            </a:r>
            <a:endParaRPr lang="en-US" sz="3588" dirty="0" smtClean="0">
              <a:solidFill>
                <a:srgbClr val="543D74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  <a:p>
            <a:pPr marL="774766" lvl="1" indent="-387383">
              <a:lnSpc>
                <a:spcPts val="5023"/>
              </a:lnSpc>
              <a:spcBef>
                <a:spcPct val="0"/>
              </a:spcBef>
              <a:buAutoNum type="arabicPeriod"/>
            </a:pPr>
            <a:r>
              <a:rPr lang="en-US" sz="3588" dirty="0" err="1">
                <a:solidFill>
                  <a:srgbClr val="543D7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Priyanka</a:t>
            </a:r>
            <a:r>
              <a:rPr lang="en-US" sz="3588" dirty="0">
                <a:solidFill>
                  <a:srgbClr val="543D7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Jain</a:t>
            </a:r>
            <a:endParaRPr lang="en-US" sz="3588" dirty="0">
              <a:solidFill>
                <a:srgbClr val="543D74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763460" y="4748117"/>
            <a:ext cx="5045337" cy="7702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338"/>
              </a:lnSpc>
              <a:spcBef>
                <a:spcPct val="0"/>
              </a:spcBef>
            </a:pPr>
            <a:r>
              <a:rPr lang="en-US" sz="4527" dirty="0">
                <a:solidFill>
                  <a:srgbClr val="543D7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Problem Statement: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5859642" y="4513566"/>
            <a:ext cx="12123558" cy="1472468"/>
            <a:chOff x="0" y="-241102"/>
            <a:chExt cx="14742344" cy="1963290"/>
          </a:xfrm>
        </p:grpSpPr>
        <p:grpSp>
          <p:nvGrpSpPr>
            <p:cNvPr id="5" name="Group 5"/>
            <p:cNvGrpSpPr/>
            <p:nvPr/>
          </p:nvGrpSpPr>
          <p:grpSpPr>
            <a:xfrm>
              <a:off x="0" y="-241102"/>
              <a:ext cx="13944162" cy="1496290"/>
              <a:chOff x="0" y="-47625"/>
              <a:chExt cx="2754402" cy="295563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2754402" cy="247938"/>
              </a:xfrm>
              <a:custGeom>
                <a:avLst/>
                <a:gdLst/>
                <a:ahLst/>
                <a:cxnLst/>
                <a:rect l="l" t="t" r="r" b="b"/>
                <a:pathLst>
                  <a:path w="2754402" h="247938">
                    <a:moveTo>
                      <a:pt x="0" y="0"/>
                    </a:moveTo>
                    <a:lnTo>
                      <a:pt x="2754402" y="0"/>
                    </a:lnTo>
                    <a:lnTo>
                      <a:pt x="2754402" y="247938"/>
                    </a:lnTo>
                    <a:lnTo>
                      <a:pt x="0" y="247938"/>
                    </a:lnTo>
                    <a:close/>
                  </a:path>
                </a:pathLst>
              </a:custGeom>
              <a:solidFill>
                <a:srgbClr val="543D74"/>
              </a:solidFill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0" y="-47625"/>
                <a:ext cx="2754402" cy="29556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623"/>
                  </a:lnSpc>
                </a:pPr>
                <a:endParaRPr/>
              </a:p>
            </p:txBody>
          </p:sp>
        </p:grpSp>
        <p:sp>
          <p:nvSpPr>
            <p:cNvPr id="8" name="TextBox 8"/>
            <p:cNvSpPr txBox="1"/>
            <p:nvPr/>
          </p:nvSpPr>
          <p:spPr>
            <a:xfrm>
              <a:off x="124859" y="183306"/>
              <a:ext cx="14617485" cy="153888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4480"/>
                </a:lnSpc>
                <a:spcBef>
                  <a:spcPct val="0"/>
                </a:spcBef>
              </a:pPr>
              <a:r>
                <a:rPr lang="en-US" sz="3200" dirty="0">
                  <a:solidFill>
                    <a:srgbClr val="FFFFFF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DEEP SKY DIVIDE: The Star–Galaxy Classification Challenge</a:t>
              </a:r>
              <a:endParaRPr lang="en-US" sz="3200" dirty="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endParaRP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3787196" y="9210675"/>
            <a:ext cx="3479013" cy="3858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31"/>
              </a:lnSpc>
              <a:spcBef>
                <a:spcPct val="0"/>
              </a:spcBef>
            </a:pPr>
            <a:r>
              <a:rPr lang="en-US" sz="2236">
                <a:solidFill>
                  <a:srgbClr val="543D74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ASTROMANTHAN 2026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-5684751" y="-619866"/>
            <a:ext cx="29657502" cy="4892149"/>
            <a:chOff x="0" y="0"/>
            <a:chExt cx="39543337" cy="6522865"/>
          </a:xfrm>
        </p:grpSpPr>
        <p:grpSp>
          <p:nvGrpSpPr>
            <p:cNvPr id="11" name="Group 11"/>
            <p:cNvGrpSpPr/>
            <p:nvPr/>
          </p:nvGrpSpPr>
          <p:grpSpPr>
            <a:xfrm rot="5400000">
              <a:off x="16922449" y="-8518354"/>
              <a:ext cx="5698439" cy="24384000"/>
              <a:chOff x="0" y="0"/>
              <a:chExt cx="10591800" cy="45323014"/>
            </a:xfrm>
          </p:grpSpPr>
          <p:sp>
            <p:nvSpPr>
              <p:cNvPr id="12" name="Freeform 12"/>
              <p:cNvSpPr/>
              <p:nvPr/>
            </p:nvSpPr>
            <p:spPr>
              <a:xfrm rot="5387999">
                <a:off x="-17383069" y="17289171"/>
                <a:ext cx="45357937" cy="10744671"/>
              </a:xfrm>
              <a:custGeom>
                <a:avLst/>
                <a:gdLst/>
                <a:ahLst/>
                <a:cxnLst/>
                <a:rect l="l" t="t" r="r" b="b"/>
                <a:pathLst>
                  <a:path w="45357937" h="10744671">
                    <a:moveTo>
                      <a:pt x="795261" y="15"/>
                    </a:moveTo>
                    <a:lnTo>
                      <a:pt x="44599650" y="152921"/>
                    </a:lnTo>
                    <a:cubicBezTo>
                      <a:pt x="45019095" y="154385"/>
                      <a:pt x="45358427" y="269236"/>
                      <a:pt x="45357937" y="409570"/>
                    </a:cubicBezTo>
                    <a:lnTo>
                      <a:pt x="45322738" y="10493308"/>
                    </a:lnTo>
                    <a:cubicBezTo>
                      <a:pt x="45322248" y="10633643"/>
                      <a:pt x="44982122" y="10746121"/>
                      <a:pt x="44562678" y="10744657"/>
                    </a:cubicBezTo>
                    <a:lnTo>
                      <a:pt x="758289" y="10591750"/>
                    </a:lnTo>
                    <a:cubicBezTo>
                      <a:pt x="338845" y="10590286"/>
                      <a:pt x="-489" y="10475436"/>
                      <a:pt x="1" y="10335102"/>
                    </a:cubicBezTo>
                    <a:lnTo>
                      <a:pt x="35200" y="251363"/>
                    </a:lnTo>
                    <a:cubicBezTo>
                      <a:pt x="35690" y="111029"/>
                      <a:pt x="375817" y="-1450"/>
                      <a:pt x="795261" y="15"/>
                    </a:cubicBezTo>
                    <a:close/>
                  </a:path>
                </a:pathLst>
              </a:custGeom>
              <a:blipFill>
                <a:blip r:embed="rId2"/>
                <a:stretch>
                  <a:fillRect l="-44733" t="-165925" r="-44733" b="-165925"/>
                </a:stretch>
              </a:blipFill>
            </p:spPr>
          </p:sp>
        </p:grpSp>
        <p:sp>
          <p:nvSpPr>
            <p:cNvPr id="13" name="Freeform 13"/>
            <p:cNvSpPr/>
            <p:nvPr/>
          </p:nvSpPr>
          <p:spPr>
            <a:xfrm>
              <a:off x="0" y="0"/>
              <a:ext cx="39543337" cy="6522865"/>
            </a:xfrm>
            <a:custGeom>
              <a:avLst/>
              <a:gdLst/>
              <a:ahLst/>
              <a:cxnLst/>
              <a:rect l="l" t="t" r="r" b="b"/>
              <a:pathLst>
                <a:path w="39543337" h="6522865">
                  <a:moveTo>
                    <a:pt x="0" y="0"/>
                  </a:moveTo>
                  <a:lnTo>
                    <a:pt x="39543337" y="0"/>
                  </a:lnTo>
                  <a:lnTo>
                    <a:pt x="39543337" y="6522865"/>
                  </a:lnTo>
                  <a:lnTo>
                    <a:pt x="0" y="65228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0813" t="-139181" r="-20202" b="-545186"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9504614" y="3072837"/>
              <a:ext cx="20084819" cy="176256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112"/>
                </a:lnSpc>
                <a:spcBef>
                  <a:spcPct val="0"/>
                </a:spcBef>
              </a:pPr>
              <a:r>
                <a:rPr lang="en-US" sz="7937" dirty="0">
                  <a:solidFill>
                    <a:srgbClr val="8E2DE2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ASTROMANTHAN 2.0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1911943" y="1658458"/>
              <a:ext cx="15270162" cy="128229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944"/>
                </a:lnSpc>
              </a:pPr>
              <a:r>
                <a:rPr lang="en-US" sz="2817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ASTRONOMY CLUB of</a:t>
              </a:r>
            </a:p>
            <a:p>
              <a:pPr algn="ctr">
                <a:lnSpc>
                  <a:spcPts val="3944"/>
                </a:lnSpc>
                <a:spcBef>
                  <a:spcPct val="0"/>
                </a:spcBef>
              </a:pPr>
              <a:r>
                <a:rPr lang="en-US" sz="2817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Thakur College of Engineering &amp; Technology (AC-TCET) </a:t>
              </a:r>
            </a:p>
          </p:txBody>
        </p:sp>
        <p:sp>
          <p:nvSpPr>
            <p:cNvPr id="16" name="Freeform 16"/>
            <p:cNvSpPr/>
            <p:nvPr/>
          </p:nvSpPr>
          <p:spPr>
            <a:xfrm>
              <a:off x="28712445" y="1160243"/>
              <a:ext cx="2134855" cy="2115794"/>
            </a:xfrm>
            <a:custGeom>
              <a:avLst/>
              <a:gdLst/>
              <a:ahLst/>
              <a:cxnLst/>
              <a:rect l="l" t="t" r="r" b="b"/>
              <a:pathLst>
                <a:path w="2134855" h="2115794">
                  <a:moveTo>
                    <a:pt x="0" y="0"/>
                  </a:moveTo>
                  <a:lnTo>
                    <a:pt x="2134855" y="0"/>
                  </a:lnTo>
                  <a:lnTo>
                    <a:pt x="2134855" y="2115794"/>
                  </a:lnTo>
                  <a:lnTo>
                    <a:pt x="0" y="21157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-1064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17" name="Freeform 17"/>
            <p:cNvSpPr/>
            <p:nvPr/>
          </p:nvSpPr>
          <p:spPr>
            <a:xfrm>
              <a:off x="8593208" y="1109443"/>
              <a:ext cx="2260433" cy="2437475"/>
            </a:xfrm>
            <a:custGeom>
              <a:avLst/>
              <a:gdLst/>
              <a:ahLst/>
              <a:cxnLst/>
              <a:rect l="l" t="t" r="r" b="b"/>
              <a:pathLst>
                <a:path w="2260433" h="2437475">
                  <a:moveTo>
                    <a:pt x="0" y="0"/>
                  </a:moveTo>
                  <a:lnTo>
                    <a:pt x="2260433" y="0"/>
                  </a:lnTo>
                  <a:lnTo>
                    <a:pt x="2260433" y="2437475"/>
                  </a:lnTo>
                  <a:lnTo>
                    <a:pt x="0" y="24374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-1489"/>
              </a:stretch>
            </a:blipFill>
          </p:spPr>
        </p:sp>
        <p:sp>
          <p:nvSpPr>
            <p:cNvPr id="18" name="TextBox 18"/>
            <p:cNvSpPr txBox="1"/>
            <p:nvPr/>
          </p:nvSpPr>
          <p:spPr>
            <a:xfrm>
              <a:off x="9792467" y="2935349"/>
              <a:ext cx="19499248" cy="178065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0797"/>
                </a:lnSpc>
                <a:spcBef>
                  <a:spcPct val="0"/>
                </a:spcBef>
              </a:pPr>
              <a:r>
                <a:rPr lang="en-US" sz="7712" dirty="0">
                  <a:solidFill>
                    <a:schemeClr val="bg1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ASTROMANTHAN 2.0</a:t>
              </a:r>
            </a:p>
          </p:txBody>
        </p:sp>
        <p:grpSp>
          <p:nvGrpSpPr>
            <p:cNvPr id="19" name="Group 19"/>
            <p:cNvGrpSpPr/>
            <p:nvPr/>
          </p:nvGrpSpPr>
          <p:grpSpPr>
            <a:xfrm>
              <a:off x="15101417" y="4971750"/>
              <a:ext cx="9340503" cy="594944"/>
              <a:chOff x="0" y="0"/>
              <a:chExt cx="1554224" cy="98996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1554224" cy="98996"/>
              </a:xfrm>
              <a:custGeom>
                <a:avLst/>
                <a:gdLst/>
                <a:ahLst/>
                <a:cxnLst/>
                <a:rect l="l" t="t" r="r" b="b"/>
                <a:pathLst>
                  <a:path w="1554224" h="98996">
                    <a:moveTo>
                      <a:pt x="49498" y="0"/>
                    </a:moveTo>
                    <a:lnTo>
                      <a:pt x="1504726" y="0"/>
                    </a:lnTo>
                    <a:cubicBezTo>
                      <a:pt x="1517853" y="0"/>
                      <a:pt x="1530444" y="5215"/>
                      <a:pt x="1539726" y="14498"/>
                    </a:cubicBezTo>
                    <a:cubicBezTo>
                      <a:pt x="1549009" y="23780"/>
                      <a:pt x="1554224" y="36370"/>
                      <a:pt x="1554224" y="49498"/>
                    </a:cubicBezTo>
                    <a:lnTo>
                      <a:pt x="1554224" y="49498"/>
                    </a:lnTo>
                    <a:cubicBezTo>
                      <a:pt x="1554224" y="62626"/>
                      <a:pt x="1549009" y="75216"/>
                      <a:pt x="1539726" y="84499"/>
                    </a:cubicBezTo>
                    <a:cubicBezTo>
                      <a:pt x="1530444" y="93781"/>
                      <a:pt x="1517853" y="98996"/>
                      <a:pt x="1504726" y="98996"/>
                    </a:cubicBezTo>
                    <a:lnTo>
                      <a:pt x="49498" y="98996"/>
                    </a:lnTo>
                    <a:cubicBezTo>
                      <a:pt x="36370" y="98996"/>
                      <a:pt x="23780" y="93781"/>
                      <a:pt x="14498" y="84499"/>
                    </a:cubicBezTo>
                    <a:cubicBezTo>
                      <a:pt x="5215" y="75216"/>
                      <a:pt x="0" y="62626"/>
                      <a:pt x="0" y="49498"/>
                    </a:cubicBezTo>
                    <a:lnTo>
                      <a:pt x="0" y="49498"/>
                    </a:lnTo>
                    <a:cubicBezTo>
                      <a:pt x="0" y="36370"/>
                      <a:pt x="5215" y="23780"/>
                      <a:pt x="14498" y="14498"/>
                    </a:cubicBezTo>
                    <a:cubicBezTo>
                      <a:pt x="23780" y="5215"/>
                      <a:pt x="36370" y="0"/>
                      <a:pt x="49498" y="0"/>
                    </a:cubicBezTo>
                    <a:close/>
                  </a:path>
                </a:pathLst>
              </a:custGeom>
              <a:solidFill>
                <a:srgbClr val="8E2DE2">
                  <a:alpha val="83922"/>
                </a:srgbClr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0" y="-9525"/>
                <a:ext cx="1554224" cy="108521"/>
              </a:xfrm>
              <a:prstGeom prst="rect">
                <a:avLst/>
              </a:prstGeom>
            </p:spPr>
            <p:txBody>
              <a:bodyPr lIns="2756" tIns="2756" rIns="2756" bIns="2756" rtlCol="0" anchor="ctr"/>
              <a:lstStyle/>
              <a:p>
                <a:pPr algn="ctr">
                  <a:lnSpc>
                    <a:spcPts val="612"/>
                  </a:lnSpc>
                </a:pPr>
                <a:endParaRPr/>
              </a:p>
            </p:txBody>
          </p:sp>
        </p:grpSp>
        <p:sp>
          <p:nvSpPr>
            <p:cNvPr id="22" name="TextBox 22"/>
            <p:cNvSpPr txBox="1"/>
            <p:nvPr/>
          </p:nvSpPr>
          <p:spPr>
            <a:xfrm>
              <a:off x="16404592" y="5015877"/>
              <a:ext cx="6734152" cy="5508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66"/>
                </a:lnSpc>
                <a:spcBef>
                  <a:spcPct val="0"/>
                </a:spcBef>
              </a:pPr>
              <a:r>
                <a:rPr lang="en-US" sz="2476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Jaha ML mile Antariksh se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723624"/>
            <a:chOff x="0" y="0"/>
            <a:chExt cx="24384000" cy="2298165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24384000" cy="2298165"/>
              <a:chOff x="0" y="0"/>
              <a:chExt cx="4816593" cy="453959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816592" cy="453959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453959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453959"/>
                    </a:lnTo>
                    <a:lnTo>
                      <a:pt x="0" y="453959"/>
                    </a:lnTo>
                    <a:close/>
                  </a:path>
                </a:pathLst>
              </a:custGeom>
              <a:solidFill>
                <a:srgbClr val="543D74"/>
              </a:solidFill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47625"/>
                <a:ext cx="4816593" cy="50158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623"/>
                  </a:lnSpc>
                </a:pPr>
                <a:endParaRPr/>
              </a:p>
            </p:txBody>
          </p:sp>
        </p:grpSp>
        <p:sp>
          <p:nvSpPr>
            <p:cNvPr id="6" name="TextBox 6"/>
            <p:cNvSpPr txBox="1"/>
            <p:nvPr/>
          </p:nvSpPr>
          <p:spPr>
            <a:xfrm>
              <a:off x="1828800" y="558771"/>
              <a:ext cx="20293011" cy="133438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8068"/>
                </a:lnSpc>
                <a:spcBef>
                  <a:spcPct val="0"/>
                </a:spcBef>
              </a:pPr>
              <a:r>
                <a:rPr lang="en-US" sz="5763" dirty="0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Explain more about problem statement</a:t>
              </a: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3787196" y="9210675"/>
            <a:ext cx="3479013" cy="3858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31"/>
              </a:lnSpc>
              <a:spcBef>
                <a:spcPct val="0"/>
              </a:spcBef>
            </a:pPr>
            <a:r>
              <a:rPr lang="en-US" sz="2236">
                <a:solidFill>
                  <a:srgbClr val="543D74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ASTROMANTHAN 2026</a:t>
            </a:r>
          </a:p>
        </p:txBody>
      </p:sp>
      <p:sp>
        <p:nvSpPr>
          <p:cNvPr id="8" name="Freeform 8"/>
          <p:cNvSpPr/>
          <p:nvPr/>
        </p:nvSpPr>
        <p:spPr>
          <a:xfrm>
            <a:off x="17259300" y="202786"/>
            <a:ext cx="702888" cy="704025"/>
          </a:xfrm>
          <a:custGeom>
            <a:avLst/>
            <a:gdLst/>
            <a:ahLst/>
            <a:cxnLst/>
            <a:rect l="l" t="t" r="r" b="b"/>
            <a:pathLst>
              <a:path w="702888" h="704025">
                <a:moveTo>
                  <a:pt x="0" y="0"/>
                </a:moveTo>
                <a:lnTo>
                  <a:pt x="702888" y="0"/>
                </a:lnTo>
                <a:lnTo>
                  <a:pt x="702888" y="704025"/>
                </a:lnTo>
                <a:lnTo>
                  <a:pt x="0" y="7040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p/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10698480" y="1920240"/>
          <a:ext cx="6949440" cy="42062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10698480" y="6355080"/>
            <a:ext cx="3429000" cy="1600200"/>
          </a:xfrm>
          <a:prstGeom prst="roundRect">
            <a:avLst>
              <a:gd name="adj" fmla="val 4000"/>
            </a:avLst>
          </a:prstGeom>
          <a:solidFill>
            <a:srgbClr val="EEE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44200" y="6400800"/>
            <a:ext cx="3337560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543D74"/>
                </a:solidFill>
                <a:latin typeface="Calibri"/>
              </a:rPr>
              <a:t>STAR</a:t>
            </a:r>
          </a:p>
          <a:p>
            <a:pPr algn="l">
              <a:spcAft>
                <a:spcPts val="900"/>
              </a:spcAft>
            </a:pPr>
            <a:r>
              <a:rPr sz="1800" b="0">
                <a:solidFill>
                  <a:srgbClr val="2B2438"/>
                </a:solidFill>
                <a:latin typeface="Calibri"/>
              </a:rPr>
              <a:t>point source: profile matches the PSF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4218920" y="6355080"/>
            <a:ext cx="3429000" cy="1600200"/>
          </a:xfrm>
          <a:prstGeom prst="roundRect">
            <a:avLst>
              <a:gd name="adj" fmla="val 4000"/>
            </a:avLst>
          </a:prstGeom>
          <a:solidFill>
            <a:srgbClr val="EEE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264640" y="6400800"/>
            <a:ext cx="3337560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543D74"/>
                </a:solidFill>
                <a:latin typeface="Calibri"/>
              </a:rPr>
              <a:t>GALAXY</a:t>
            </a:r>
          </a:p>
          <a:p>
            <a:pPr algn="l">
              <a:spcAft>
                <a:spcPts val="900"/>
              </a:spcAft>
            </a:pPr>
            <a:r>
              <a:rPr sz="1800" b="0">
                <a:solidFill>
                  <a:srgbClr val="2B2438"/>
                </a:solidFill>
                <a:latin typeface="Calibri"/>
              </a:rPr>
              <a:t>extended: broader brightness profile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8183879"/>
            <a:ext cx="17007840" cy="777240"/>
          </a:xfrm>
          <a:prstGeom prst="roundRect">
            <a:avLst>
              <a:gd name="adj" fmla="val 4000"/>
            </a:avLst>
          </a:prstGeom>
          <a:solidFill>
            <a:srgbClr val="543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8183879"/>
            <a:ext cx="16824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9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Success: </a:t>
            </a:r>
            <a:r>
              <a:rPr sz="2400" b="0">
                <a:solidFill>
                  <a:srgbClr val="FFFFFF"/>
                </a:solidFill>
                <a:latin typeface="Calibri"/>
              </a:rPr>
              <a:t>held-out accuracy, macro-F1 and per-class errors, with no leakage.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2011680"/>
            <a:ext cx="9692640" cy="5943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1">
                <a:solidFill>
                  <a:srgbClr val="543D74"/>
                </a:solidFill>
                <a:latin typeface="Calibri"/>
              </a:rPr>
              <a:t>What we understood</a:t>
            </a:r>
          </a:p>
          <a:p>
            <a:pPr algn="l" marL="342900" indent="-342900">
              <a:spcAft>
                <a:spcPts val="900"/>
              </a:spcAft>
              <a:buChar char="•"/>
            </a:pPr>
            <a:r>
              <a:rPr sz="2000" b="1">
                <a:solidFill>
                  <a:srgbClr val="543D74"/>
                </a:solidFill>
                <a:latin typeface="Calibri"/>
              </a:rPr>
              <a:t>Task: </a:t>
            </a:r>
            <a:r>
              <a:rPr sz="2000" b="0">
                <a:solidFill>
                  <a:srgbClr val="2B2438"/>
                </a:solidFill>
                <a:latin typeface="Calibri"/>
              </a:rPr>
              <a:t>label each object STAR or GALAXY from brightness in 5 bands plus shape. QSOs are in the data; we exclude them from the main model.</a:t>
            </a:r>
          </a:p>
          <a:p>
            <a:pPr algn="l" marL="342900" indent="-342900">
              <a:spcAft>
                <a:spcPts val="900"/>
              </a:spcAft>
              <a:buChar char="•"/>
            </a:pPr>
            <a:r>
              <a:rPr sz="2000" b="1">
                <a:solidFill>
                  <a:srgbClr val="543D74"/>
                </a:solidFill>
                <a:latin typeface="Calibri"/>
              </a:rPr>
              <a:t>Why it matters: </a:t>
            </a:r>
            <a:r>
              <a:rPr sz="2000" b="0">
                <a:solidFill>
                  <a:srgbClr val="2B2438"/>
                </a:solidFill>
                <a:latin typeface="Calibri"/>
              </a:rPr>
              <a:t>stars are point sources, galaxies are extended. Catalogues need clean labels at survey scale; manual labelling is impossible.</a:t>
            </a:r>
          </a:p>
          <a:p>
            <a:pPr algn="l" marL="342900" indent="-342900">
              <a:spcAft>
                <a:spcPts val="900"/>
              </a:spcAft>
              <a:buChar char="•"/>
            </a:pPr>
            <a:r>
              <a:rPr sz="2000" b="1">
                <a:solidFill>
                  <a:srgbClr val="543D74"/>
                </a:solidFill>
                <a:latin typeface="Calibri"/>
              </a:rPr>
              <a:t>Why it is hard: </a:t>
            </a:r>
            <a:r>
              <a:rPr sz="2000" b="0">
                <a:solidFill>
                  <a:srgbClr val="2B2438"/>
                </a:solidFill>
                <a:latin typeface="Calibri"/>
              </a:rPr>
              <a:t>faint galaxies look point-like, poor seeing blurs stars, and measurements are noisy.</a:t>
            </a:r>
          </a:p>
          <a:p>
            <a:pPr algn="l" marL="342900" indent="-342900">
              <a:spcAft>
                <a:spcPts val="900"/>
              </a:spcAft>
              <a:buChar char="•"/>
            </a:pPr>
            <a:r>
              <a:rPr sz="2000" b="1">
                <a:solidFill>
                  <a:srgbClr val="543D74"/>
                </a:solidFill>
                <a:latin typeface="Calibri"/>
              </a:rPr>
              <a:t>Traps (measured): </a:t>
            </a:r>
            <a:r>
              <a:rPr sz="2000" b="0">
                <a:solidFill>
                  <a:srgbClr val="2B2438"/>
                </a:solidFill>
                <a:latin typeface="Calibri"/>
              </a:rPr>
              <a:t>Dataset_29 has junk text and ±1e12 sentinels; in Dataset_24 redshift reveals the class.</a:t>
            </a:r>
          </a:p>
          <a:p>
            <a:pPr algn="l" marL="342900" indent="-342900">
              <a:spcAft>
                <a:spcPts val="900"/>
              </a:spcAft>
              <a:buChar char="•"/>
            </a:pPr>
            <a:r>
              <a:rPr sz="2000" b="1">
                <a:solidFill>
                  <a:srgbClr val="543D74"/>
                </a:solidFill>
                <a:latin typeface="Calibri"/>
              </a:rPr>
              <a:t>What it really tests: </a:t>
            </a:r>
            <a:r>
              <a:rPr sz="2000" b="0">
                <a:solidFill>
                  <a:srgbClr val="2B2438"/>
                </a:solidFill>
                <a:latin typeface="Calibri"/>
              </a:rPr>
              <a:t>cleaning, relevant features, leakage control and generalisation, not accuracy alone.</a:t>
            </a:r>
          </a:p>
          <a:p>
            <a:pPr algn="l" marL="342900" indent="-342900">
              <a:spcAft>
                <a:spcPts val="900"/>
              </a:spcAft>
              <a:buChar char="•"/>
            </a:pPr>
            <a:r>
              <a:rPr sz="2000" b="1">
                <a:solidFill>
                  <a:srgbClr val="543D74"/>
                </a:solidFill>
                <a:latin typeface="Calibri"/>
              </a:rPr>
              <a:t>Secondary check: </a:t>
            </a:r>
            <a:r>
              <a:rPr sz="2000" b="0">
                <a:solidFill>
                  <a:srgbClr val="2B2438"/>
                </a:solidFill>
                <a:latin typeface="Calibri"/>
              </a:rPr>
              <a:t>a 5-band colour model trained on Dataset_29 fell from macro-F1 0.968 to 0.478 on 62,128 Dataset_24 objects: cross-survey transfer is a known limit.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723624"/>
            <a:chOff x="0" y="0"/>
            <a:chExt cx="24384000" cy="2298165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24384000" cy="2298165"/>
              <a:chOff x="0" y="0"/>
              <a:chExt cx="4816593" cy="453959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816592" cy="453959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453959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453959"/>
                    </a:lnTo>
                    <a:lnTo>
                      <a:pt x="0" y="453959"/>
                    </a:lnTo>
                    <a:close/>
                  </a:path>
                </a:pathLst>
              </a:custGeom>
              <a:solidFill>
                <a:srgbClr val="543D74"/>
              </a:solidFill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47625"/>
                <a:ext cx="4816593" cy="50158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623"/>
                  </a:lnSpc>
                </a:pPr>
                <a:endParaRPr/>
              </a:p>
            </p:txBody>
          </p:sp>
        </p:grpSp>
        <p:sp>
          <p:nvSpPr>
            <p:cNvPr id="6" name="TextBox 6"/>
            <p:cNvSpPr txBox="1"/>
            <p:nvPr/>
          </p:nvSpPr>
          <p:spPr>
            <a:xfrm>
              <a:off x="1727200" y="558771"/>
              <a:ext cx="19946597" cy="133438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8068"/>
                </a:lnSpc>
                <a:spcBef>
                  <a:spcPct val="0"/>
                </a:spcBef>
              </a:pPr>
              <a:r>
                <a:rPr lang="en-US" sz="5763" dirty="0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Solutions for your problem statement</a:t>
              </a: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3787196" y="9210675"/>
            <a:ext cx="3479013" cy="3858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31"/>
              </a:lnSpc>
              <a:spcBef>
                <a:spcPct val="0"/>
              </a:spcBef>
            </a:pPr>
            <a:r>
              <a:rPr lang="en-US" sz="2236">
                <a:solidFill>
                  <a:srgbClr val="543D74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ASTROMANTHAN 2026</a:t>
            </a:r>
          </a:p>
        </p:txBody>
      </p:sp>
      <p:sp>
        <p:nvSpPr>
          <p:cNvPr id="8" name="Freeform 8"/>
          <p:cNvSpPr/>
          <p:nvPr/>
        </p:nvSpPr>
        <p:spPr>
          <a:xfrm>
            <a:off x="17259300" y="202786"/>
            <a:ext cx="702888" cy="704025"/>
          </a:xfrm>
          <a:custGeom>
            <a:avLst/>
            <a:gdLst/>
            <a:ahLst/>
            <a:cxnLst/>
            <a:rect l="l" t="t" r="r" b="b"/>
            <a:pathLst>
              <a:path w="702888" h="704025">
                <a:moveTo>
                  <a:pt x="0" y="0"/>
                </a:moveTo>
                <a:lnTo>
                  <a:pt x="702888" y="0"/>
                </a:lnTo>
                <a:lnTo>
                  <a:pt x="702888" y="704025"/>
                </a:lnTo>
                <a:lnTo>
                  <a:pt x="0" y="7040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9" name="Rounded Rectangle 8"/>
          <p:cNvSpPr/>
          <p:nvPr/>
        </p:nvSpPr>
        <p:spPr>
          <a:xfrm>
            <a:off x="640080" y="2011680"/>
            <a:ext cx="8229600" cy="5852160"/>
          </a:xfrm>
          <a:prstGeom prst="roundRect">
            <a:avLst>
              <a:gd name="adj" fmla="val 4000"/>
            </a:avLst>
          </a:prstGeom>
          <a:solidFill>
            <a:srgbClr val="EEE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144000" y="2011680"/>
            <a:ext cx="8503920" cy="5852160"/>
          </a:xfrm>
          <a:prstGeom prst="roundRect">
            <a:avLst>
              <a:gd name="adj" fmla="val 4000"/>
            </a:avLst>
          </a:prstGeom>
          <a:solidFill>
            <a:srgbClr val="EEE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103120"/>
            <a:ext cx="8046720" cy="5669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1">
                <a:solidFill>
                  <a:srgbClr val="543D74"/>
                </a:solidFill>
                <a:latin typeface="Calibri"/>
              </a:rPr>
              <a:t>Data preparation</a:t>
            </a:r>
          </a:p>
          <a:p>
            <a:pPr algn="l" marL="342900" indent="-342900">
              <a:spcAft>
                <a:spcPts val="900"/>
              </a:spcAft>
              <a:buChar char="•"/>
            </a:pPr>
            <a:r>
              <a:rPr sz="2000" b="1">
                <a:solidFill>
                  <a:srgbClr val="543D74"/>
                </a:solidFill>
                <a:latin typeface="Calibri"/>
              </a:rPr>
              <a:t>Clean: </a:t>
            </a:r>
            <a:r>
              <a:rPr sz="2000" b="0">
                <a:solidFill>
                  <a:srgbClr val="2B2438"/>
                </a:solidFill>
                <a:latin typeface="Calibri"/>
              </a:rPr>
              <a:t>invalid text, non-finite and out-of-bound values become NaN (Dataset_29).</a:t>
            </a:r>
          </a:p>
          <a:p>
            <a:pPr algn="l" marL="342900" indent="-342900">
              <a:spcAft>
                <a:spcPts val="900"/>
              </a:spcAft>
              <a:buChar char="•"/>
            </a:pPr>
            <a:r>
              <a:rPr sz="2000" b="1">
                <a:solidFill>
                  <a:srgbClr val="543D74"/>
                </a:solidFill>
                <a:latin typeface="Calibri"/>
              </a:rPr>
              <a:t>Drop: </a:t>
            </a:r>
            <a:r>
              <a:rPr sz="2000" b="0">
                <a:solidFill>
                  <a:srgbClr val="2B2438"/>
                </a:solidFill>
                <a:latin typeface="Calibri"/>
              </a:rPr>
              <a:t>IDs, coordinates, observation bookkeeping, spectral type, galaxy-population fields.</a:t>
            </a:r>
          </a:p>
          <a:p>
            <a:pPr algn="l" marL="342900" indent="-342900">
              <a:spcAft>
                <a:spcPts val="900"/>
              </a:spcAft>
              <a:buChar char="•"/>
            </a:pPr>
            <a:r>
              <a:rPr sz="2000" b="1">
                <a:solidFill>
                  <a:srgbClr val="543D74"/>
                </a:solidFill>
                <a:latin typeface="Calibri"/>
              </a:rPr>
              <a:t>Classes: </a:t>
            </a:r>
            <a:r>
              <a:rPr sz="2000" b="0">
                <a:solidFill>
                  <a:srgbClr val="2B2438"/>
                </a:solidFill>
                <a:latin typeface="Calibri"/>
              </a:rPr>
              <a:t>star vs galaxy; 10,439 QSO excluded.</a:t>
            </a:r>
          </a:p>
          <a:p>
            <a:pPr algn="l" marL="342900" indent="-342900">
              <a:spcAft>
                <a:spcPts val="900"/>
              </a:spcAft>
              <a:buChar char="•"/>
            </a:pPr>
            <a:r>
              <a:rPr sz="2000" b="1">
                <a:solidFill>
                  <a:srgbClr val="543D74"/>
                </a:solidFill>
                <a:latin typeface="Calibri"/>
              </a:rPr>
              <a:t>Duplicates: </a:t>
            </a:r>
            <a:r>
              <a:rPr sz="2000" b="0">
                <a:solidFill>
                  <a:srgbClr val="2B2438"/>
                </a:solidFill>
                <a:latin typeface="Calibri"/>
              </a:rPr>
              <a:t>identity matching removed 37 unidentifiable rows and 126 conflicting-label rows, and collapsed 197 repeats: 100,050 → 89,251.</a:t>
            </a:r>
          </a:p>
          <a:p>
            <a:pPr algn="l" marL="342900" indent="-342900">
              <a:spcAft>
                <a:spcPts val="900"/>
              </a:spcAft>
              <a:buChar char="•"/>
            </a:pPr>
            <a:r>
              <a:rPr sz="2000" b="1">
                <a:solidFill>
                  <a:srgbClr val="543D74"/>
                </a:solidFill>
                <a:latin typeface="Calibri"/>
              </a:rPr>
              <a:t>Missing values: </a:t>
            </a:r>
            <a:r>
              <a:rPr sz="2000" b="0">
                <a:solidFill>
                  <a:srgbClr val="2B2438"/>
                </a:solidFill>
                <a:latin typeface="Calibri"/>
              </a:rPr>
              <a:t>median fill, learned inside each training fold.</a:t>
            </a:r>
          </a:p>
          <a:p>
            <a:pPr algn="l" marL="342900" indent="-342900">
              <a:spcAft>
                <a:spcPts val="900"/>
              </a:spcAft>
              <a:buChar char="•"/>
            </a:pPr>
            <a:r>
              <a:rPr sz="2000" b="1">
                <a:solidFill>
                  <a:srgbClr val="543D74"/>
                </a:solidFill>
                <a:latin typeface="Calibri"/>
              </a:rPr>
              <a:t>Leakage: </a:t>
            </a:r>
            <a:r>
              <a:rPr sz="2000" b="0">
                <a:solidFill>
                  <a:srgbClr val="2B2438"/>
                </a:solidFill>
                <a:latin typeface="Calibri"/>
              </a:rPr>
              <a:t>redshift excluded (stars sit at |z| &lt; 0.005).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5440" y="2103120"/>
            <a:ext cx="8321040" cy="5669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1">
                <a:solidFill>
                  <a:srgbClr val="543D74"/>
                </a:solidFill>
                <a:latin typeface="Calibri"/>
              </a:rPr>
              <a:t>Features, model, evaluation</a:t>
            </a:r>
          </a:p>
          <a:p>
            <a:pPr algn="l" marL="342900" indent="-342900">
              <a:spcAft>
                <a:spcPts val="900"/>
              </a:spcAft>
              <a:buChar char="•"/>
            </a:pPr>
            <a:r>
              <a:rPr sz="2000" b="1">
                <a:solidFill>
                  <a:srgbClr val="543D74"/>
                </a:solidFill>
                <a:latin typeface="Calibri"/>
              </a:rPr>
              <a:t>Features: </a:t>
            </a:r>
            <a:r>
              <a:rPr sz="2000" b="0">
                <a:solidFill>
                  <a:srgbClr val="2B2438"/>
                </a:solidFill>
                <a:latin typeface="Calibri"/>
              </a:rPr>
              <a:t>30 measurements plus 30 derived = 60 inputs: 5 colours, 5 PSF-minus-magnitude, 5 radius ratios, 10 log radii, 5 asinh fluxes.</a:t>
            </a:r>
          </a:p>
          <a:p>
            <a:pPr algn="l" marL="342900" indent="-342900">
              <a:spcAft>
                <a:spcPts val="900"/>
              </a:spcAft>
              <a:buChar char="•"/>
            </a:pPr>
            <a:r>
              <a:rPr sz="2000" b="1">
                <a:solidFill>
                  <a:srgbClr val="543D74"/>
                </a:solidFill>
                <a:latin typeface="Calibri"/>
              </a:rPr>
              <a:t>Model: </a:t>
            </a:r>
            <a:r>
              <a:rPr sz="2000" b="0">
                <a:solidFill>
                  <a:srgbClr val="2B2438"/>
                </a:solidFill>
                <a:latin typeface="Calibri"/>
              </a:rPr>
              <a:t>Histogram Gradient Boosting (HistGB_deeper), compared with a logistic-regression baseline.</a:t>
            </a:r>
          </a:p>
          <a:p>
            <a:pPr algn="l" marL="342900" indent="-342900">
              <a:spcAft>
                <a:spcPts val="900"/>
              </a:spcAft>
              <a:buChar char="•"/>
            </a:pPr>
            <a:r>
              <a:rPr sz="2000" b="1">
                <a:solidFill>
                  <a:srgbClr val="543D74"/>
                </a:solidFill>
                <a:latin typeface="Calibri"/>
              </a:rPr>
              <a:t>Validation: </a:t>
            </a:r>
            <a:r>
              <a:rPr sz="2000" b="0">
                <a:solidFill>
                  <a:srgbClr val="2B2438"/>
                </a:solidFill>
                <a:latin typeface="Calibri"/>
              </a:rPr>
              <a:t>80/20 split (71,401 development, 17,850 test), five-fold CV; only the chosen model touched the test set.</a:t>
            </a:r>
          </a:p>
          <a:p>
            <a:pPr algn="l" marL="342900" indent="-342900">
              <a:spcAft>
                <a:spcPts val="900"/>
              </a:spcAft>
              <a:buChar char="•"/>
            </a:pPr>
            <a:r>
              <a:rPr sz="2000" b="1">
                <a:solidFill>
                  <a:srgbClr val="543D74"/>
                </a:solidFill>
                <a:latin typeface="Calibri"/>
              </a:rPr>
              <a:t>Selection: </a:t>
            </a:r>
            <a:r>
              <a:rPr sz="2000" b="0">
                <a:solidFill>
                  <a:srgbClr val="2B2438"/>
                </a:solidFill>
                <a:latin typeface="Calibri"/>
              </a:rPr>
              <a:t>permutation importance: drop in macro-F1 when an input is shuffled.</a:t>
            </a:r>
          </a:p>
          <a:p>
            <a:pPr algn="l" marL="342900" indent="-342900">
              <a:spcAft>
                <a:spcPts val="900"/>
              </a:spcAft>
              <a:buChar char="•"/>
            </a:pPr>
            <a:r>
              <a:rPr sz="2000" b="1">
                <a:solidFill>
                  <a:srgbClr val="543D74"/>
                </a:solidFill>
                <a:latin typeface="Calibri"/>
              </a:rPr>
              <a:t>Metrics: </a:t>
            </a:r>
            <a:r>
              <a:rPr sz="2000" b="0">
                <a:solidFill>
                  <a:srgbClr val="2B2438"/>
                </a:solidFill>
                <a:latin typeface="Calibri"/>
              </a:rPr>
              <a:t>accuracy, macro-F1, confusion matrix.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8138160"/>
            <a:ext cx="17007840" cy="822960"/>
          </a:xfrm>
          <a:prstGeom prst="roundRect">
            <a:avLst>
              <a:gd name="adj" fmla="val 4000"/>
            </a:avLst>
          </a:prstGeom>
          <a:solidFill>
            <a:srgbClr val="543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8138160"/>
            <a:ext cx="168249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9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Vs conventional: </a:t>
            </a:r>
            <a:r>
              <a:rPr sz="2200" b="0">
                <a:solidFill>
                  <a:srgbClr val="FFFFFF"/>
                </a:solidFill>
                <a:latin typeface="Calibri"/>
              </a:rPr>
              <a:t>a single morphology or colour cut, versus an audited, leakage-checked pipeline validated by cross-validation.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723624"/>
            <a:chOff x="0" y="0"/>
            <a:chExt cx="24384000" cy="2298165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24384000" cy="2298165"/>
              <a:chOff x="0" y="0"/>
              <a:chExt cx="4816593" cy="453959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816592" cy="453959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453959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453959"/>
                    </a:lnTo>
                    <a:lnTo>
                      <a:pt x="0" y="453959"/>
                    </a:lnTo>
                    <a:close/>
                  </a:path>
                </a:pathLst>
              </a:custGeom>
              <a:solidFill>
                <a:srgbClr val="543D74"/>
              </a:solidFill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47625"/>
                <a:ext cx="4816593" cy="50158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623"/>
                  </a:lnSpc>
                </a:pPr>
                <a:endParaRPr/>
              </a:p>
            </p:txBody>
          </p:sp>
        </p:grpSp>
        <p:sp>
          <p:nvSpPr>
            <p:cNvPr id="6" name="TextBox 6"/>
            <p:cNvSpPr txBox="1"/>
            <p:nvPr/>
          </p:nvSpPr>
          <p:spPr>
            <a:xfrm>
              <a:off x="1524000" y="558771"/>
              <a:ext cx="20932540" cy="133438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8068"/>
                </a:lnSpc>
                <a:spcBef>
                  <a:spcPct val="0"/>
                </a:spcBef>
              </a:pPr>
              <a:r>
                <a:rPr lang="en-US" sz="5763" dirty="0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How does your model helps solving this?</a:t>
              </a: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3787196" y="9210675"/>
            <a:ext cx="3479013" cy="3858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31"/>
              </a:lnSpc>
              <a:spcBef>
                <a:spcPct val="0"/>
              </a:spcBef>
            </a:pPr>
            <a:r>
              <a:rPr lang="en-US" sz="2236">
                <a:solidFill>
                  <a:srgbClr val="543D74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ASTROMANTHAN 2026</a:t>
            </a:r>
          </a:p>
        </p:txBody>
      </p:sp>
      <p:sp>
        <p:nvSpPr>
          <p:cNvPr id="8" name="Freeform 8"/>
          <p:cNvSpPr/>
          <p:nvPr/>
        </p:nvSpPr>
        <p:spPr>
          <a:xfrm>
            <a:off x="17259300" y="202786"/>
            <a:ext cx="702888" cy="704025"/>
          </a:xfrm>
          <a:custGeom>
            <a:avLst/>
            <a:gdLst/>
            <a:ahLst/>
            <a:cxnLst/>
            <a:rect l="l" t="t" r="r" b="b"/>
            <a:pathLst>
              <a:path w="702888" h="704025">
                <a:moveTo>
                  <a:pt x="0" y="0"/>
                </a:moveTo>
                <a:lnTo>
                  <a:pt x="702888" y="0"/>
                </a:lnTo>
                <a:lnTo>
                  <a:pt x="702888" y="704025"/>
                </a:lnTo>
                <a:lnTo>
                  <a:pt x="0" y="7040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9" name="Oval 8"/>
          <p:cNvSpPr/>
          <p:nvPr/>
        </p:nvSpPr>
        <p:spPr>
          <a:xfrm>
            <a:off x="1463040" y="2011680"/>
            <a:ext cx="731520" cy="731520"/>
          </a:xfrm>
          <a:prstGeom prst="ellipse">
            <a:avLst/>
          </a:prstGeom>
          <a:solidFill>
            <a:srgbClr val="543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788920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900"/>
              </a:spcAft>
            </a:pPr>
            <a:r>
              <a:rPr sz="2400" b="1">
                <a:solidFill>
                  <a:srgbClr val="543D74"/>
                </a:solidFill>
                <a:latin typeface="Calibri"/>
              </a:rPr>
              <a:t>Load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246120"/>
            <a:ext cx="23774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900"/>
              </a:spcAft>
            </a:pPr>
            <a:r>
              <a:rPr sz="1600" b="0">
                <a:solidFill>
                  <a:srgbClr val="2B2438"/>
                </a:solidFill>
                <a:latin typeface="Calibri"/>
              </a:rPr>
              <a:t>Dataset_29</a:t>
            </a:r>
          </a:p>
        </p:txBody>
      </p:sp>
      <p:sp>
        <p:nvSpPr>
          <p:cNvPr id="12" name="Oval 11"/>
          <p:cNvSpPr/>
          <p:nvPr/>
        </p:nvSpPr>
        <p:spPr>
          <a:xfrm>
            <a:off x="3931920" y="2011680"/>
            <a:ext cx="731520" cy="731520"/>
          </a:xfrm>
          <a:prstGeom prst="ellipse">
            <a:avLst/>
          </a:prstGeom>
          <a:solidFill>
            <a:srgbClr val="543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2788920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900"/>
              </a:spcAft>
            </a:pPr>
            <a:r>
              <a:rPr sz="2400" b="1">
                <a:solidFill>
                  <a:srgbClr val="543D74"/>
                </a:solidFill>
                <a:latin typeface="Calibri"/>
              </a:rPr>
              <a:t>Inspect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3246120"/>
            <a:ext cx="23774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900"/>
              </a:spcAft>
            </a:pPr>
            <a:r>
              <a:rPr sz="1600" b="0">
                <a:solidFill>
                  <a:srgbClr val="2B2438"/>
                </a:solidFill>
                <a:latin typeface="Calibri"/>
              </a:rPr>
              <a:t>shape, junk tokens, classes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0" y="2011680"/>
            <a:ext cx="731520" cy="731520"/>
          </a:xfrm>
          <a:prstGeom prst="ellipse">
            <a:avLst/>
          </a:prstGeom>
          <a:solidFill>
            <a:srgbClr val="543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77840" y="2788920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900"/>
              </a:spcAft>
            </a:pPr>
            <a:r>
              <a:rPr sz="2400" b="1">
                <a:solidFill>
                  <a:srgbClr val="543D74"/>
                </a:solidFill>
                <a:latin typeface="Calibri"/>
              </a:rPr>
              <a:t>Clean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77840" y="3246120"/>
            <a:ext cx="23774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900"/>
              </a:spcAft>
            </a:pPr>
            <a:r>
              <a:rPr sz="1600" b="0">
                <a:solidFill>
                  <a:srgbClr val="2B2438"/>
                </a:solidFill>
                <a:latin typeface="Calibri"/>
              </a:rPr>
              <a:t>NaN, bounds, drop IDs, QSO</a:t>
            </a:r>
          </a:p>
        </p:txBody>
      </p:sp>
      <p:sp>
        <p:nvSpPr>
          <p:cNvPr id="18" name="Oval 17"/>
          <p:cNvSpPr/>
          <p:nvPr/>
        </p:nvSpPr>
        <p:spPr>
          <a:xfrm>
            <a:off x="8869680" y="2011680"/>
            <a:ext cx="731520" cy="731520"/>
          </a:xfrm>
          <a:prstGeom prst="ellipse">
            <a:avLst/>
          </a:prstGeom>
          <a:solidFill>
            <a:srgbClr val="543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2788920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900"/>
              </a:spcAft>
            </a:pPr>
            <a:r>
              <a:rPr sz="2400" b="1">
                <a:solidFill>
                  <a:srgbClr val="543D74"/>
                </a:solidFill>
                <a:latin typeface="Calibri"/>
              </a:rPr>
              <a:t>Explore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3246120"/>
            <a:ext cx="23774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900"/>
              </a:spcAft>
            </a:pPr>
            <a:r>
              <a:rPr sz="1600" b="0">
                <a:solidFill>
                  <a:srgbClr val="2B2438"/>
                </a:solidFill>
                <a:latin typeface="Calibri"/>
              </a:rPr>
              <a:t>colours, ratios, plots</a:t>
            </a:r>
          </a:p>
        </p:txBody>
      </p:sp>
      <p:sp>
        <p:nvSpPr>
          <p:cNvPr id="21" name="Oval 20"/>
          <p:cNvSpPr/>
          <p:nvPr/>
        </p:nvSpPr>
        <p:spPr>
          <a:xfrm>
            <a:off x="11338560" y="2011680"/>
            <a:ext cx="731520" cy="731520"/>
          </a:xfrm>
          <a:prstGeom prst="ellipse">
            <a:avLst/>
          </a:prstGeom>
          <a:solidFill>
            <a:srgbClr val="543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2788920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900"/>
              </a:spcAft>
            </a:pPr>
            <a:r>
              <a:rPr sz="2400" b="1">
                <a:solidFill>
                  <a:srgbClr val="543D74"/>
                </a:solidFill>
                <a:latin typeface="Calibri"/>
              </a:rPr>
              <a:t>Split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3246120"/>
            <a:ext cx="23774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900"/>
              </a:spcAft>
            </a:pPr>
            <a:r>
              <a:rPr sz="1600" b="0">
                <a:solidFill>
                  <a:srgbClr val="2B2438"/>
                </a:solidFill>
                <a:latin typeface="Calibri"/>
              </a:rPr>
              <a:t>80/20, held-out test</a:t>
            </a:r>
          </a:p>
        </p:txBody>
      </p:sp>
      <p:sp>
        <p:nvSpPr>
          <p:cNvPr id="24" name="Oval 23"/>
          <p:cNvSpPr/>
          <p:nvPr/>
        </p:nvSpPr>
        <p:spPr>
          <a:xfrm>
            <a:off x="13807440" y="2011680"/>
            <a:ext cx="731520" cy="731520"/>
          </a:xfrm>
          <a:prstGeom prst="ellipse">
            <a:avLst/>
          </a:prstGeom>
          <a:solidFill>
            <a:srgbClr val="543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984480" y="2788920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900"/>
              </a:spcAft>
            </a:pPr>
            <a:r>
              <a:rPr sz="2400" b="1">
                <a:solidFill>
                  <a:srgbClr val="543D74"/>
                </a:solidFill>
                <a:latin typeface="Calibri"/>
              </a:rPr>
              <a:t>Train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984480" y="3246120"/>
            <a:ext cx="23774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900"/>
              </a:spcAft>
            </a:pPr>
            <a:r>
              <a:rPr sz="1600" b="0">
                <a:solidFill>
                  <a:srgbClr val="2B2438"/>
                </a:solidFill>
                <a:latin typeface="Calibri"/>
              </a:rPr>
              <a:t>HistGB, 5-fold CV</a:t>
            </a:r>
          </a:p>
        </p:txBody>
      </p:sp>
      <p:sp>
        <p:nvSpPr>
          <p:cNvPr id="27" name="Oval 26"/>
          <p:cNvSpPr/>
          <p:nvPr/>
        </p:nvSpPr>
        <p:spPr>
          <a:xfrm>
            <a:off x="16276320" y="2011680"/>
            <a:ext cx="731520" cy="731520"/>
          </a:xfrm>
          <a:prstGeom prst="ellipse">
            <a:avLst/>
          </a:prstGeom>
          <a:solidFill>
            <a:srgbClr val="543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453360" y="2788920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900"/>
              </a:spcAft>
            </a:pPr>
            <a:r>
              <a:rPr sz="2400" b="1">
                <a:solidFill>
                  <a:srgbClr val="543D74"/>
                </a:solidFill>
                <a:latin typeface="Calibri"/>
              </a:rPr>
              <a:t>Evaluate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453360" y="3246120"/>
            <a:ext cx="23774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900"/>
              </a:spcAft>
            </a:pPr>
            <a:r>
              <a:rPr sz="1600" b="0">
                <a:solidFill>
                  <a:srgbClr val="2B2438"/>
                </a:solidFill>
                <a:latin typeface="Calibri"/>
              </a:rPr>
              <a:t>accuracy, macro-F1, confusion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640080" y="4206240"/>
          <a:ext cx="8412480" cy="12618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2194560"/>
                <a:gridCol w="2926080"/>
              </a:tblGrid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Cross-validation</a:t>
                      </a:r>
                    </a:p>
                  </a:txBody>
                  <a:tcPr anchor="ctr">
                    <a:solidFill>
                      <a:srgbClr val="543D7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Accuracy</a:t>
                      </a:r>
                    </a:p>
                  </a:txBody>
                  <a:tcPr anchor="ctr">
                    <a:solidFill>
                      <a:srgbClr val="543D7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Macro-F1</a:t>
                      </a:r>
                    </a:p>
                  </a:txBody>
                  <a:tcPr anchor="ctr">
                    <a:solidFill>
                      <a:srgbClr val="543D74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2B2438"/>
                          </a:solidFill>
                          <a:latin typeface="Calibri"/>
                        </a:rPr>
                        <a:t>Logistic regression</a:t>
                      </a:r>
                    </a:p>
                  </a:txBody>
                  <a:tcPr anchor="ctr">
                    <a:solidFill>
                      <a:srgbClr val="EEE9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B2438"/>
                          </a:solidFill>
                          <a:latin typeface="Calibri"/>
                        </a:rPr>
                        <a:t>99.196%</a:t>
                      </a:r>
                    </a:p>
                  </a:txBody>
                  <a:tcPr anchor="ctr">
                    <a:solidFill>
                      <a:srgbClr val="EEE9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B2438"/>
                          </a:solidFill>
                          <a:latin typeface="Calibri"/>
                        </a:rPr>
                        <a:t>0.9918 ± 0.0008</a:t>
                      </a:r>
                    </a:p>
                  </a:txBody>
                  <a:tcPr anchor="ctr">
                    <a:solidFill>
                      <a:srgbClr val="EEE9F5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2B2438"/>
                          </a:solidFill>
                          <a:latin typeface="Calibri"/>
                        </a:rPr>
                        <a:t>HistGB_deeper (final)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B2438"/>
                          </a:solidFill>
                          <a:latin typeface="Calibri"/>
                        </a:rPr>
                        <a:t>99.480%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B2438"/>
                          </a:solidFill>
                          <a:latin typeface="Calibri"/>
                        </a:rPr>
                        <a:t>0.9946 ± 0.0011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640080" y="5669280"/>
          <a:ext cx="8412480" cy="8412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/>
                <a:gridCol w="2194560"/>
                <a:gridCol w="2194560"/>
              </a:tblGrid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Held-out test (17,850)</a:t>
                      </a:r>
                    </a:p>
                  </a:txBody>
                  <a:tcPr anchor="ctr">
                    <a:solidFill>
                      <a:srgbClr val="543D7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Accuracy</a:t>
                      </a:r>
                    </a:p>
                  </a:txBody>
                  <a:tcPr anchor="ctr">
                    <a:solidFill>
                      <a:srgbClr val="543D7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Macro-F1</a:t>
                      </a:r>
                    </a:p>
                  </a:txBody>
                  <a:tcPr anchor="ctr">
                    <a:solidFill>
                      <a:srgbClr val="543D74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2B2438"/>
                          </a:solidFill>
                          <a:latin typeface="Calibri"/>
                        </a:rPr>
                        <a:t>HistGB_deeper</a:t>
                      </a:r>
                    </a:p>
                  </a:txBody>
                  <a:tcPr anchor="ctr">
                    <a:solidFill>
                      <a:srgbClr val="EEE9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B2438"/>
                          </a:solidFill>
                          <a:latin typeface="Calibri"/>
                        </a:rPr>
                        <a:t>99.48%</a:t>
                      </a:r>
                    </a:p>
                  </a:txBody>
                  <a:tcPr anchor="ctr">
                    <a:solidFill>
                      <a:srgbClr val="EEE9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B2438"/>
                          </a:solidFill>
                          <a:latin typeface="Calibri"/>
                        </a:rPr>
                        <a:t>0.9946</a:t>
                      </a:r>
                    </a:p>
                  </a:txBody>
                  <a:tcPr anchor="ctr">
                    <a:solidFill>
                      <a:srgbClr val="EEE9F5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640080" y="6720840"/>
          <a:ext cx="8412480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2743200"/>
                <a:gridCol w="2743200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2000" b="1">
                          <a:solidFill>
                            <a:srgbClr val="FFFFFF"/>
                          </a:solidFill>
                          <a:latin typeface="Calibri"/>
                        </a:rPr>
                        <a:t>Actual ↓  Pred. →</a:t>
                      </a:r>
                    </a:p>
                  </a:txBody>
                  <a:tcPr anchor="ctr">
                    <a:solidFill>
                      <a:srgbClr val="543D7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FFFFF"/>
                          </a:solidFill>
                          <a:latin typeface="Calibri"/>
                        </a:rPr>
                        <a:t>GALAXY</a:t>
                      </a:r>
                    </a:p>
                  </a:txBody>
                  <a:tcPr anchor="ctr">
                    <a:solidFill>
                      <a:srgbClr val="543D7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FFFFF"/>
                          </a:solidFill>
                          <a:latin typeface="Calibri"/>
                        </a:rPr>
                        <a:t>STAR</a:t>
                      </a:r>
                    </a:p>
                  </a:txBody>
                  <a:tcPr anchor="ctr">
                    <a:solidFill>
                      <a:srgbClr val="543D7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2000" b="1">
                          <a:solidFill>
                            <a:srgbClr val="2B2438"/>
                          </a:solidFill>
                          <a:latin typeface="Calibri"/>
                        </a:rPr>
                        <a:t>GALAXY</a:t>
                      </a:r>
                    </a:p>
                  </a:txBody>
                  <a:tcPr anchor="ctr">
                    <a:solidFill>
                      <a:srgbClr val="EEE9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2B2438"/>
                          </a:solidFill>
                          <a:latin typeface="Calibri"/>
                        </a:rPr>
                        <a:t>10,383</a:t>
                      </a:r>
                    </a:p>
                  </a:txBody>
                  <a:tcPr anchor="ctr">
                    <a:solidFill>
                      <a:srgbClr val="EEE9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2B2438"/>
                          </a:solidFill>
                          <a:latin typeface="Calibri"/>
                        </a:rPr>
                        <a:t>60</a:t>
                      </a:r>
                    </a:p>
                  </a:txBody>
                  <a:tcPr anchor="ctr">
                    <a:solidFill>
                      <a:srgbClr val="EEE9F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2000" b="1">
                          <a:solidFill>
                            <a:srgbClr val="2B2438"/>
                          </a:solidFill>
                          <a:latin typeface="Calibri"/>
                        </a:rPr>
                        <a:t>STAR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2B2438"/>
                          </a:solidFill>
                          <a:latin typeface="Calibri"/>
                        </a:rPr>
                        <a:t>33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2B2438"/>
                          </a:solidFill>
                          <a:latin typeface="Calibri"/>
                        </a:rPr>
                        <a:t>7,374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640080" y="8275320"/>
            <a:ext cx="8412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500" b="0">
                <a:solidFill>
                  <a:srgbClr val="6B627A"/>
                </a:solidFill>
                <a:latin typeface="Calibri"/>
              </a:rPr>
              <a:t>Confusion matrix: 93 errors out of 17,850 test objects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418320" y="4206240"/>
            <a:ext cx="8229600" cy="4754880"/>
          </a:xfrm>
          <a:prstGeom prst="roundRect">
            <a:avLst>
              <a:gd name="adj" fmla="val 4000"/>
            </a:avLst>
          </a:prstGeom>
          <a:solidFill>
            <a:srgbClr val="EEE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509760" y="4297680"/>
            <a:ext cx="804672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543D74"/>
                </a:solidFill>
                <a:latin typeface="Calibri"/>
              </a:rPr>
              <a:t>Why this model fits</a:t>
            </a:r>
          </a:p>
          <a:p>
            <a:pPr algn="l" marL="342900" indent="-342900">
              <a:spcAft>
                <a:spcPts val="900"/>
              </a:spcAft>
              <a:buChar char="•"/>
            </a:pPr>
            <a:r>
              <a:rPr sz="1800" b="1">
                <a:solidFill>
                  <a:srgbClr val="543D74"/>
                </a:solidFill>
                <a:latin typeface="Calibri"/>
              </a:rPr>
              <a:t>Beats baseline: </a:t>
            </a:r>
            <a:r>
              <a:rPr sz="1800" b="0">
                <a:solidFill>
                  <a:srgbClr val="2B2438"/>
                </a:solidFill>
                <a:latin typeface="Calibri"/>
              </a:rPr>
              <a:t>CV macro-F1 up 0.29 points over logistic regression, a small but measured gain.</a:t>
            </a:r>
          </a:p>
          <a:p>
            <a:pPr algn="l" marL="342900" indent="-342900">
              <a:spcAft>
                <a:spcPts val="900"/>
              </a:spcAft>
              <a:buChar char="•"/>
            </a:pPr>
            <a:r>
              <a:rPr sz="1800" b="1">
                <a:solidFill>
                  <a:srgbClr val="543D74"/>
                </a:solidFill>
                <a:latin typeface="Calibri"/>
              </a:rPr>
              <a:t>Rich inputs: </a:t>
            </a:r>
            <a:r>
              <a:rPr sz="1800" b="0">
                <a:solidFill>
                  <a:srgbClr val="2B2438"/>
                </a:solidFill>
                <a:latin typeface="Calibri"/>
              </a:rPr>
              <a:t>colours, PSF-minus-magnitude and radius ratios capture point-like vs extended.</a:t>
            </a:r>
          </a:p>
          <a:p>
            <a:pPr algn="l" marL="342900" indent="-342900">
              <a:spcAft>
                <a:spcPts val="900"/>
              </a:spcAft>
              <a:buChar char="•"/>
            </a:pPr>
            <a:r>
              <a:rPr sz="1800" b="1">
                <a:solidFill>
                  <a:srgbClr val="543D74"/>
                </a:solidFill>
                <a:latin typeface="Calibri"/>
              </a:rPr>
              <a:t>Balanced errors: </a:t>
            </a:r>
            <a:r>
              <a:rPr sz="1800" b="0">
                <a:solidFill>
                  <a:srgbClr val="2B2438"/>
                </a:solidFill>
                <a:latin typeface="Calibri"/>
              </a:rPr>
              <a:t>60 galaxies called stars, 33 stars called galaxies.</a:t>
            </a:r>
          </a:p>
          <a:p>
            <a:pPr algn="l" marL="342900" indent="-342900">
              <a:spcAft>
                <a:spcPts val="900"/>
              </a:spcAft>
              <a:buChar char="•"/>
            </a:pPr>
            <a:r>
              <a:rPr sz="1800" b="1">
                <a:solidFill>
                  <a:srgbClr val="543D74"/>
                </a:solidFill>
                <a:latin typeface="Calibri"/>
              </a:rPr>
              <a:t>Leakage-safe: </a:t>
            </a:r>
            <a:r>
              <a:rPr sz="1800" b="0">
                <a:solidFill>
                  <a:srgbClr val="2B2438"/>
                </a:solidFill>
                <a:latin typeface="Calibri"/>
              </a:rPr>
              <a:t>redshift, IDs and coordinates excluded; repeated objects collapsed.</a:t>
            </a:r>
          </a:p>
          <a:p>
            <a:pPr algn="l" marL="342900" indent="-342900">
              <a:spcAft>
                <a:spcPts val="900"/>
              </a:spcAft>
              <a:buChar char="•"/>
            </a:pPr>
            <a:r>
              <a:rPr sz="1800" b="1">
                <a:solidFill>
                  <a:srgbClr val="543D74"/>
                </a:solidFill>
                <a:latin typeface="Calibri"/>
              </a:rPr>
              <a:t>Known limit: </a:t>
            </a:r>
            <a:r>
              <a:rPr sz="1800" b="0">
                <a:solidFill>
                  <a:srgbClr val="2B2438"/>
                </a:solidFill>
                <a:latin typeface="Calibri"/>
              </a:rPr>
              <a:t>transfer to Dataset_24 was weak (macro-F1 0.478).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09760" y="8366760"/>
            <a:ext cx="8046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400" b="1">
                <a:solidFill>
                  <a:srgbClr val="543D74"/>
                </a:solidFill>
                <a:latin typeface="Calibri"/>
              </a:rPr>
              <a:t>Add: </a:t>
            </a:r>
            <a:r>
              <a:rPr sz="1400" b="0">
                <a:solidFill>
                  <a:srgbClr val="2B2438"/>
                </a:solidFill>
                <a:latin typeface="Calibri"/>
              </a:rPr>
              <a:t>feature-importance chart and actual-vs-predicted plot (images needed).</a:t>
            </a:r>
            <a:r>
              <a:rPr sz="1400" b="1">
                <a:solidFill>
                  <a:srgbClr val="C0392B"/>
                </a:solidFill>
                <a:latin typeface="Calibri"/>
              </a:rPr>
              <a:t> [TEAM]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723624"/>
            <a:chOff x="0" y="0"/>
            <a:chExt cx="4816593" cy="45395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453959"/>
            </a:xfrm>
            <a:custGeom>
              <a:avLst/>
              <a:gdLst/>
              <a:ahLst/>
              <a:cxnLst/>
              <a:rect l="l" t="t" r="r" b="b"/>
              <a:pathLst>
                <a:path w="4816592" h="453959">
                  <a:moveTo>
                    <a:pt x="0" y="0"/>
                  </a:moveTo>
                  <a:lnTo>
                    <a:pt x="4816592" y="0"/>
                  </a:lnTo>
                  <a:lnTo>
                    <a:pt x="4816592" y="453959"/>
                  </a:lnTo>
                  <a:lnTo>
                    <a:pt x="0" y="453959"/>
                  </a:lnTo>
                  <a:close/>
                </a:path>
              </a:pathLst>
            </a:custGeom>
            <a:solidFill>
              <a:srgbClr val="543D74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816593" cy="5015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23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6477001" y="392885"/>
            <a:ext cx="5128156" cy="10007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068"/>
              </a:lnSpc>
              <a:spcBef>
                <a:spcPct val="0"/>
              </a:spcBef>
            </a:pPr>
            <a:r>
              <a:rPr lang="en-US" sz="5763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Future Scope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3777671" y="9210675"/>
            <a:ext cx="3479013" cy="3858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31"/>
              </a:lnSpc>
              <a:spcBef>
                <a:spcPct val="0"/>
              </a:spcBef>
            </a:pPr>
            <a:r>
              <a:rPr lang="en-US" sz="2236">
                <a:solidFill>
                  <a:srgbClr val="543D74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ASTROMANTHAN 2026</a:t>
            </a:r>
          </a:p>
        </p:txBody>
      </p:sp>
      <p:sp>
        <p:nvSpPr>
          <p:cNvPr id="7" name="Freeform 7"/>
          <p:cNvSpPr/>
          <p:nvPr/>
        </p:nvSpPr>
        <p:spPr>
          <a:xfrm>
            <a:off x="17259300" y="202786"/>
            <a:ext cx="702888" cy="704025"/>
          </a:xfrm>
          <a:custGeom>
            <a:avLst/>
            <a:gdLst/>
            <a:ahLst/>
            <a:cxnLst/>
            <a:rect l="l" t="t" r="r" b="b"/>
            <a:pathLst>
              <a:path w="702888" h="704025">
                <a:moveTo>
                  <a:pt x="0" y="0"/>
                </a:moveTo>
                <a:lnTo>
                  <a:pt x="702888" y="0"/>
                </a:lnTo>
                <a:lnTo>
                  <a:pt x="702888" y="704025"/>
                </a:lnTo>
                <a:lnTo>
                  <a:pt x="0" y="7040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8" name="Rounded Rectangle 7"/>
          <p:cNvSpPr/>
          <p:nvPr/>
        </p:nvSpPr>
        <p:spPr>
          <a:xfrm>
            <a:off x="640080" y="2011680"/>
            <a:ext cx="5486400" cy="1828800"/>
          </a:xfrm>
          <a:prstGeom prst="roundRect">
            <a:avLst>
              <a:gd name="adj" fmla="val 4000"/>
            </a:avLst>
          </a:prstGeom>
          <a:solidFill>
            <a:srgbClr val="EEE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19" y="2057400"/>
            <a:ext cx="53035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4000" b="1">
                <a:solidFill>
                  <a:srgbClr val="543D74"/>
                </a:solidFill>
                <a:latin typeface="Calibri"/>
              </a:rPr>
              <a:t>20B + 17B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19" y="2926080"/>
            <a:ext cx="53035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800" b="0">
                <a:solidFill>
                  <a:srgbClr val="2B2438"/>
                </a:solidFill>
                <a:latin typeface="Calibri"/>
              </a:rPr>
              <a:t>galaxies and stars expected in Rubin’s LSST catalogue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2011680"/>
            <a:ext cx="5486400" cy="1828800"/>
          </a:xfrm>
          <a:prstGeom prst="roundRect">
            <a:avLst>
              <a:gd name="adj" fmla="val 4000"/>
            </a:avLst>
          </a:prstGeom>
          <a:solidFill>
            <a:srgbClr val="EEE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057400"/>
            <a:ext cx="53035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4000" b="1">
                <a:solidFill>
                  <a:srgbClr val="543D74"/>
                </a:solidFill>
                <a:latin typeface="Calibri"/>
              </a:rPr>
              <a:t>up to 20 TB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926080"/>
            <a:ext cx="53035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800" b="0">
                <a:solidFill>
                  <a:srgbClr val="2B2438"/>
                </a:solidFill>
                <a:latin typeface="Calibri"/>
              </a:rPr>
              <a:t>of raw images per night from Rubin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161519" y="2011680"/>
            <a:ext cx="5486400" cy="1828800"/>
          </a:xfrm>
          <a:prstGeom prst="roundRect">
            <a:avLst>
              <a:gd name="adj" fmla="val 4000"/>
            </a:avLst>
          </a:prstGeom>
          <a:solidFill>
            <a:srgbClr val="EEE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252959" y="2057400"/>
            <a:ext cx="53035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4000" b="1">
                <a:solidFill>
                  <a:srgbClr val="543D74"/>
                </a:solidFill>
                <a:latin typeface="Calibri"/>
              </a:rPr>
              <a:t>millions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252959" y="2926080"/>
            <a:ext cx="53035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800" b="0">
                <a:solidFill>
                  <a:srgbClr val="2B2438"/>
                </a:solidFill>
                <a:latin typeface="Calibri"/>
              </a:rPr>
              <a:t>of alerts per night sent to community ML brokers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40080" y="4023360"/>
          <a:ext cx="17007840" cy="3401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3383280"/>
                <a:gridCol w="3017520"/>
                <a:gridCol w="1371600"/>
                <a:gridCol w="5029200"/>
              </a:tblGrid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Market segment</a:t>
                      </a:r>
                    </a:p>
                  </a:txBody>
                  <a:tcPr anchor="ctr">
                    <a:solidFill>
                      <a:srgbClr val="543D7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Latest size</a:t>
                      </a:r>
                    </a:p>
                  </a:txBody>
                  <a:tcPr anchor="ctr">
                    <a:solidFill>
                      <a:srgbClr val="543D7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Forecast</a:t>
                      </a:r>
                    </a:p>
                  </a:txBody>
                  <a:tcPr anchor="ctr">
                    <a:solidFill>
                      <a:srgbClr val="543D7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CAGR</a:t>
                      </a:r>
                    </a:p>
                  </a:txBody>
                  <a:tcPr anchor="ctr">
                    <a:solidFill>
                      <a:srgbClr val="543D7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Source type</a:t>
                      </a:r>
                    </a:p>
                  </a:txBody>
                  <a:tcPr anchor="ctr">
                    <a:solidFill>
                      <a:srgbClr val="543D7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2B2438"/>
                          </a:solidFill>
                          <a:latin typeface="Calibri"/>
                        </a:rPr>
                        <a:t>Astronomy data analysis AI</a:t>
                      </a:r>
                    </a:p>
                  </a:txBody>
                  <a:tcPr anchor="ctr">
                    <a:solidFill>
                      <a:srgbClr val="EEE9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B2438"/>
                          </a:solidFill>
                          <a:latin typeface="Calibri"/>
                        </a:rPr>
                        <a:t>$2.1B (2025); $2.49B (2026)</a:t>
                      </a:r>
                    </a:p>
                  </a:txBody>
                  <a:tcPr anchor="ctr">
                    <a:solidFill>
                      <a:srgbClr val="EEE9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B2438"/>
                          </a:solidFill>
                          <a:latin typeface="Calibri"/>
                        </a:rPr>
                        <a:t>$9.8B by 2034</a:t>
                      </a:r>
                    </a:p>
                  </a:txBody>
                  <a:tcPr anchor="ctr">
                    <a:solidFill>
                      <a:srgbClr val="EEE9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B2438"/>
                          </a:solidFill>
                          <a:latin typeface="Calibri"/>
                        </a:rPr>
                        <a:t>18.4%</a:t>
                      </a:r>
                    </a:p>
                  </a:txBody>
                  <a:tcPr anchor="ctr">
                    <a:solidFill>
                      <a:srgbClr val="EEE9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B2438"/>
                          </a:solidFill>
                          <a:latin typeface="Calibri"/>
                        </a:rPr>
                        <a:t>Market-research report (Marketintelo)</a:t>
                      </a:r>
                    </a:p>
                  </a:txBody>
                  <a:tcPr anchor="ctr">
                    <a:solidFill>
                      <a:srgbClr val="EEE9F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2B2438"/>
                          </a:solidFill>
                          <a:latin typeface="Calibri"/>
                        </a:rPr>
                        <a:t>Astronomy and space sciences (overall)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B2438"/>
                          </a:solidFill>
                          <a:latin typeface="Calibri"/>
                        </a:rPr>
                        <a:t>$18.9B (2025); $20.6B (2026)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B2438"/>
                          </a:solidFill>
                          <a:latin typeface="Calibri"/>
                        </a:rPr>
                        <a:t>$37.1B by 2033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B2438"/>
                          </a:solidFill>
                          <a:latin typeface="Calibri"/>
                        </a:rPr>
                        <a:t>8.8%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B2438"/>
                          </a:solidFill>
                          <a:latin typeface="Calibri"/>
                        </a:rPr>
                        <a:t>Market-research report (Future Data Stats)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2B2438"/>
                          </a:solidFill>
                          <a:latin typeface="Calibri"/>
                        </a:rPr>
                        <a:t>Space-based AI assistants</a:t>
                      </a:r>
                    </a:p>
                  </a:txBody>
                  <a:tcPr anchor="ctr">
                    <a:solidFill>
                      <a:srgbClr val="EEE9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B2438"/>
                          </a:solidFill>
                          <a:latin typeface="Calibri"/>
                        </a:rPr>
                        <a:t>$1.3B (2025); $1.51B (2026)</a:t>
                      </a:r>
                    </a:p>
                  </a:txBody>
                  <a:tcPr anchor="ctr">
                    <a:solidFill>
                      <a:srgbClr val="EEE9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B2438"/>
                          </a:solidFill>
                          <a:latin typeface="Calibri"/>
                        </a:rPr>
                        <a:t>n/a</a:t>
                      </a:r>
                    </a:p>
                  </a:txBody>
                  <a:tcPr anchor="ctr">
                    <a:solidFill>
                      <a:srgbClr val="EEE9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B2438"/>
                          </a:solidFill>
                          <a:latin typeface="Calibri"/>
                        </a:rPr>
                        <a:t>16.2%</a:t>
                      </a:r>
                    </a:p>
                  </a:txBody>
                  <a:tcPr anchor="ctr">
                    <a:solidFill>
                      <a:srgbClr val="EEE9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B2438"/>
                          </a:solidFill>
                          <a:latin typeface="Calibri"/>
                        </a:rPr>
                        <a:t>Market-research summary</a:t>
                      </a:r>
                    </a:p>
                  </a:txBody>
                  <a:tcPr anchor="ctr">
                    <a:solidFill>
                      <a:srgbClr val="EEE9F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2B2438"/>
                          </a:solidFill>
                          <a:latin typeface="Calibri"/>
                        </a:rPr>
                        <a:t>Smart telescopes incl. AI sky-mapping software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B2438"/>
                          </a:solidFill>
                          <a:latin typeface="Calibri"/>
                        </a:rPr>
                        <a:t>$480M (2025)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B2438"/>
                          </a:solidFill>
                          <a:latin typeface="Calibri"/>
                        </a:rPr>
                        <a:t>$2.24B by 2034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B2438"/>
                          </a:solidFill>
                          <a:latin typeface="Calibri"/>
                        </a:rPr>
                        <a:t>18.7%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B2438"/>
                          </a:solidFill>
                          <a:latin typeface="Calibri"/>
                        </a:rPr>
                        <a:t>Market-research report (HTF MI)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2B2438"/>
                          </a:solidFill>
                          <a:latin typeface="Calibri"/>
                        </a:rPr>
                        <a:t>India space economy</a:t>
                      </a:r>
                    </a:p>
                  </a:txBody>
                  <a:tcPr anchor="ctr">
                    <a:solidFill>
                      <a:srgbClr val="EEE9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B2438"/>
                          </a:solidFill>
                          <a:latin typeface="Calibri"/>
                        </a:rPr>
                        <a:t>About $9B (Aug 2026); $8.4B (Jan 2026)</a:t>
                      </a:r>
                    </a:p>
                  </a:txBody>
                  <a:tcPr anchor="ctr">
                    <a:solidFill>
                      <a:srgbClr val="EEE9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B2438"/>
                          </a:solidFill>
                          <a:latin typeface="Calibri"/>
                        </a:rPr>
                        <a:t>$40–45B over next decade</a:t>
                      </a:r>
                    </a:p>
                  </a:txBody>
                  <a:tcPr anchor="ctr">
                    <a:solidFill>
                      <a:srgbClr val="EEE9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B2438"/>
                          </a:solidFill>
                          <a:latin typeface="Calibri"/>
                        </a:rPr>
                        <a:t>n/a</a:t>
                      </a:r>
                    </a:p>
                  </a:txBody>
                  <a:tcPr anchor="ctr">
                    <a:solidFill>
                      <a:srgbClr val="EEE9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B2438"/>
                          </a:solidFill>
                          <a:latin typeface="Calibri"/>
                        </a:rPr>
                        <a:t>Government figures (PIB, IN-SPACe)</a:t>
                      </a:r>
                    </a:p>
                  </a:txBody>
                  <a:tcPr anchor="ctr">
                    <a:solidFill>
                      <a:srgbClr val="EEE9F5"/>
                    </a:solidFill>
                  </a:tcPr>
                </a:tc>
              </a:tr>
            </a:tbl>
          </a:graphicData>
        </a:graphic>
      </p:graphicFrame>
      <p:sp>
        <p:nvSpPr>
          <p:cNvPr id="18" name="Rounded Rectangle 17"/>
          <p:cNvSpPr/>
          <p:nvPr/>
        </p:nvSpPr>
        <p:spPr>
          <a:xfrm>
            <a:off x="640080" y="7863840"/>
            <a:ext cx="17007840" cy="685800"/>
          </a:xfrm>
          <a:prstGeom prst="roundRect">
            <a:avLst>
              <a:gd name="adj" fmla="val 4000"/>
            </a:avLst>
          </a:prstGeom>
          <a:solidFill>
            <a:srgbClr val="543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7863840"/>
            <a:ext cx="168249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900"/>
              </a:spcAft>
            </a:pPr>
            <a:r>
              <a:rPr sz="1900" b="1">
                <a:solidFill>
                  <a:srgbClr val="FFFFFF"/>
                </a:solidFill>
                <a:latin typeface="Calibri"/>
              </a:rPr>
              <a:t>Future scope: </a:t>
            </a:r>
            <a:r>
              <a:rPr sz="1900" b="0">
                <a:solidFill>
                  <a:srgbClr val="FFFFFF"/>
                </a:solidFill>
                <a:latin typeface="Calibri"/>
              </a:rPr>
              <a:t>probability calibration and uncertainty, QSO as a third class, other surveys and image models, rare-object detection.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8641080"/>
            <a:ext cx="17007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200" b="0">
                <a:solidFill>
                  <a:srgbClr val="6B627A"/>
                </a:solidFill>
                <a:latin typeface="Calibri"/>
              </a:rPr>
              <a:t>Sources: Marketintelo, Future Data Stats, HTF MI, PIB, IN-SPACe (market-research and government figures, not independently verified); Rubin/LSST project pages.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75</Words>
  <Application>Microsoft Office PowerPoint</Application>
  <PresentationFormat>Custom</PresentationFormat>
  <Paragraphs>21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Calibri</vt:lpstr>
      <vt:lpstr>League Spartan</vt:lpstr>
      <vt:lpstr>Arial</vt:lpstr>
      <vt:lpstr>Times New Roman MT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 ASTROMANTHAN </dc:title>
  <cp:lastModifiedBy>Admin</cp:lastModifiedBy>
  <cp:revision>6</cp:revision>
  <dcterms:created xsi:type="dcterms:W3CDTF">2006-08-16T00:00:00Z</dcterms:created>
  <dcterms:modified xsi:type="dcterms:W3CDTF">2026-10-09T08:57:03Z</dcterms:modified>
  <dc:identifier>DAHTZ1Z3FG4</dc:identifier>
</cp:coreProperties>
</file>